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仓颉 MetaTransformation 编译插件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流程 | 架构 | 价值 | 场景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插件执行流程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输入：通过编译选项传入插件动态库路径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加载：CompilerInstance 打开动态库并验证版本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注册：插件向 Builder 注入 MetaTransform 实例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执行：ToCHIR 对函数/包级 IR 执行 Run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收尾：可选 IRCheck + Profile 审核变换质量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架构分层与职责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8412480" cy="100584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C28"/>
                </a:solidFill>
              </a:defRPr>
            </a:pPr>
            <a:r>
              <a:t>Loader 层</a:t>
            </a:r>
          </a:p>
          <a:p>
            <a:pPr>
              <a:defRPr sz="1600">
                <a:solidFill>
                  <a:srgbClr val="181C28"/>
                </a:solidFill>
              </a:defRPr>
            </a:pPr>
            <a:r>
              <a:t>动态库加载、版本校验、异常隔离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8412480" cy="100584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C28"/>
                </a:solidFill>
              </a:defRPr>
            </a:pPr>
            <a:r>
              <a:t>Builder 层</a:t>
            </a:r>
          </a:p>
          <a:p>
            <a:pPr>
              <a:defRPr sz="1600">
                <a:solidFill>
                  <a:srgbClr val="181C28"/>
                </a:solidFill>
              </a:defRPr>
            </a:pPr>
            <a:r>
              <a:t>聚合插件注册回调，延迟构建变换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8412480" cy="1005840"/>
          </a:xfrm>
          <a:prstGeom prst="roundRect">
            <a:avLst/>
          </a:prstGeom>
          <a:solidFill>
            <a:srgbClr val="00CEAD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C28"/>
                </a:solidFill>
              </a:defRPr>
            </a:pPr>
            <a:r>
              <a:t>Manager 层</a:t>
            </a:r>
          </a:p>
          <a:p>
            <a:pPr>
              <a:defRPr sz="1600">
                <a:solidFill>
                  <a:srgbClr val="181C28"/>
                </a:solidFill>
              </a:defRPr>
            </a:pPr>
            <a:r>
              <a:t>持有 MetaTransform 序列，统一调度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8412480" cy="1005840"/>
          </a:xfrm>
          <a:prstGeom prst="roundRect">
            <a:avLst/>
          </a:prstGeom>
          <a:solidFill>
            <a:srgbClr val="FFAA5C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C28"/>
                </a:solidFill>
              </a:defRPr>
            </a:pPr>
            <a:r>
              <a:t>执行管线</a:t>
            </a:r>
          </a:p>
          <a:p>
            <a:pPr>
              <a:defRPr sz="1600">
                <a:solidFill>
                  <a:srgbClr val="181C28"/>
                </a:solidFill>
              </a:defRPr>
            </a:pPr>
            <a:r>
              <a:t>在 CHIR 阶段遍历函数/包并执行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核心数据结构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MetaTransformKind：描述函数级/包级插件类别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MetaTransform&lt;T&gt;：模板抽象，约束 Run 接口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MetaTransformPluginManager：遍历与调度容器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MetaTransformPluginInfo：导出注册函数与版本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CHIR_PLUGIN 宏：封装实例化与注册细节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实现方案与最佳实践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在插件内继承 MetaTransform&lt;CHIR::Func/Package&gt;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构造函数注入 CHIRBuilder 等依赖并缓存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registerTo 中调用 RegisterCHIRPluginCallback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需要顺序依赖时按注册顺序组织回调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启用 IRCheck/Profiling 监控插件质量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代码优势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强类型模板自动设置插件类别，避免误用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Builder/Manager 解耦生命周期，扩展简单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异常捕获与诊断隔离第三方故障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可插拔设计保持主线编译器轻量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业务价值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面向行业的 IR 级优化与特性强化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编译期静态审计、合规检测与安全插桩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跨团队扩展与合作伙伴共创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支持实验性功能快速验证与回滚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3F7FF"/>
                </a:solidFill>
              </a:defRPr>
            </a:pPr>
            <a:r>
              <a:t>商业落地示例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3F7FF"/>
                </a:solidFill>
              </a:defRPr>
            </a:pPr>
            <a:r>
              <a:t>金融风控 DSL：编译期降阶 + 合规审计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车载安全：自动注入遥测与安全断言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SaaS 多租户：租户级定制优化策略</a:t>
            </a:r>
          </a:p>
          <a:p>
            <a:pPr>
              <a:defRPr sz="2200">
                <a:solidFill>
                  <a:srgbClr val="F3F7FF"/>
                </a:solidFill>
              </a:defRPr>
            </a:pPr>
            <a:r>
              <a:t>AIOps：编译期植入可观测性钩子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" cy="4754880"/>
          </a:xfrm>
          <a:prstGeom prst="rect">
            <a:avLst/>
          </a:prstGeom>
          <a:solidFill>
            <a:srgbClr val="00A4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编译器系统架构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pic>
        <p:nvPicPr>
          <p:cNvPr id="4" name="Picture 3" descr="Compiler_Architecture_Diagram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772400" cy="437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3F7FF"/>
                </a:solidFill>
              </a:defRPr>
            </a:pPr>
            <a:r>
              <a:t>前端、LLVM 后端及 OS 支撑关系，标注插件嵌入点。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单链路视角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pic>
        <p:nvPicPr>
          <p:cNvPr id="4" name="Picture 3" descr="Compiler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772400" cy="437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3F7FF"/>
                </a:solidFill>
              </a:defRPr>
            </a:pPr>
            <a:r>
              <a:t>英文版架构示意，适合对外沟通或联合评审。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MetaTransformation 插件管线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100584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C28"/>
                </a:solidFill>
              </a:defRPr>
            </a:pPr>
            <a:r>
              <a:t>配置插件路径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54480"/>
            <a:ext cx="2011680" cy="100584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C28"/>
                </a:solidFill>
              </a:defRPr>
            </a:pPr>
            <a:r>
              <a:t>动态库加载 + 校验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3185" y="1805940"/>
            <a:ext cx="257175" cy="50292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2011680" cy="100584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C28"/>
                </a:solidFill>
              </a:defRPr>
            </a:pPr>
            <a:r>
              <a:t>Builder 注册回调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46345" y="1805940"/>
            <a:ext cx="257175" cy="50292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80" y="1554480"/>
            <a:ext cx="2011680" cy="100584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C28"/>
                </a:solidFill>
              </a:defRPr>
            </a:pPr>
            <a:r>
              <a:t>CHIR 执行变换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69505" y="1805940"/>
            <a:ext cx="257175" cy="50292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40" y="1554480"/>
            <a:ext cx="2011680" cy="100584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81C28"/>
                </a:solidFill>
              </a:defRPr>
            </a:pPr>
            <a:r>
              <a:t>IRCheck 验证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92665" y="1805940"/>
            <a:ext cx="257175" cy="50292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价值映射矩阵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834640" cy="137160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3F7FF"/>
                </a:solidFill>
              </a:defRPr>
            </a:pPr>
            <a:r>
              <a:t>性能增强</a:t>
            </a:r>
            <a:br/>
            <a:r>
              <a:t>(HPC/AI)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737360"/>
            <a:ext cx="2834640" cy="137160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3F7FF"/>
                </a:solidFill>
              </a:defRPr>
            </a:pPr>
            <a:r>
              <a:t>安全合规</a:t>
            </a:r>
            <a:br/>
            <a:r>
              <a:t>(金融/车载)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2834640" cy="137160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3F7FF"/>
                </a:solidFill>
              </a:defRPr>
            </a:pPr>
            <a:r>
              <a:t>生态共建</a:t>
            </a:r>
            <a:br/>
            <a:r>
              <a:t>(伙伴插件)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429000"/>
            <a:ext cx="2834640" cy="137160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3F7FF"/>
                </a:solidFill>
              </a:defRPr>
            </a:pPr>
            <a:r>
              <a:t>可观测 &amp; AIOps</a:t>
            </a:r>
            <a:br/>
            <a:r>
              <a:t>(调试/监控)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3F7FF"/>
                </a:solidFill>
              </a:defRPr>
            </a:pPr>
            <a:r>
              <a:t>CHIR 阶段插件执行流程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00CEAD"/>
          </a:solidFill>
          <a:ln>
            <a:solidFill>
              <a:srgbClr val="0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81C28"/>
                </a:solidFill>
              </a:defRPr>
            </a:pPr>
            <a:r>
              <a:t>CJ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863840" cy="3474720"/>
          </a:xfrm>
          <a:prstGeom prst="roundRect">
            <a:avLst/>
          </a:prstGeom>
          <a:solidFill>
            <a:srgbClr val="18233E"/>
          </a:solidFill>
          <a:ln>
            <a:solidFill>
              <a:srgbClr val="00C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1554480" cy="109728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3F7FF"/>
                </a:solidFill>
              </a:defRPr>
            </a:pPr>
            <a:r>
              <a:t>CHIR Builder 初始化</a:t>
            </a:r>
          </a:p>
          <a:p>
            <a:pPr>
              <a:defRPr sz="1300">
                <a:solidFill>
                  <a:srgbClr val="F3F7FF"/>
                </a:solidFill>
              </a:defRPr>
            </a:pPr>
            <a:r>
              <a:t>ci.metaTransformPluginBuilder.BuildCHIRPluginManager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20240"/>
            <a:ext cx="1554480" cy="109728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3F7FF"/>
                </a:solidFill>
              </a:defRPr>
            </a:pPr>
            <a:r>
              <a:t>遍历插件概念</a:t>
            </a:r>
          </a:p>
          <a:p>
            <a:pPr>
              <a:defRPr sz="1300">
                <a:solidFill>
                  <a:srgbClr val="F3F7FF"/>
                </a:solidFill>
              </a:defRPr>
            </a:pPr>
            <a:r>
              <a:t>ForEachMetaTransformConcept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61488" y="2286000"/>
            <a:ext cx="256031" cy="36576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0" y="1920240"/>
            <a:ext cx="1554480" cy="109728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3F7FF"/>
                </a:solidFill>
              </a:defRPr>
            </a:pPr>
            <a:r>
              <a:t>类别判定</a:t>
            </a:r>
          </a:p>
          <a:p>
            <a:pPr>
              <a:defRPr sz="1300">
                <a:solidFill>
                  <a:srgbClr val="F3F7FF"/>
                </a:solidFill>
              </a:defRPr>
            </a:pPr>
            <a:r>
              <a:t>IsForFunc / IsForPackage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81728" y="2286000"/>
            <a:ext cx="256031" cy="36576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1554480" cy="1097280"/>
          </a:xfrm>
          <a:prstGeom prst="roundRect">
            <a:avLst/>
          </a:prstGeom>
          <a:solidFill>
            <a:srgbClr val="9966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3F7FF"/>
                </a:solidFill>
              </a:defRPr>
            </a:pPr>
            <a:r>
              <a:t>执行 Run</a:t>
            </a:r>
          </a:p>
          <a:p>
            <a:pPr>
              <a:defRPr sz="1300">
                <a:solidFill>
                  <a:srgbClr val="F3F7FF"/>
                </a:solidFill>
              </a:defRPr>
            </a:pPr>
            <a:r>
              <a:t>函数级：遍历 funcs</a:t>
            </a:r>
            <a:br/>
            <a:r>
              <a:t>包级：直接运行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01968" y="2286000"/>
            <a:ext cx="256031" cy="36576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920240"/>
            <a:ext cx="1554480" cy="1097280"/>
          </a:xfrm>
          <a:prstGeom prst="roundRect">
            <a:avLst/>
          </a:prstGeom>
          <a:solidFill>
            <a:srgbClr val="00A4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3F7FF"/>
                </a:solidFill>
              </a:defRPr>
            </a:pPr>
            <a:r>
              <a:t>质量保障</a:t>
            </a:r>
          </a:p>
          <a:p>
            <a:pPr>
              <a:defRPr sz="1300">
                <a:solidFill>
                  <a:srgbClr val="F3F7FF"/>
                </a:solidFill>
              </a:defRPr>
            </a:pPr>
            <a:r>
              <a:t>Profile 记录 + IRCheck / 异常诊断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22208" y="2286000"/>
            <a:ext cx="256031" cy="365760"/>
          </a:xfrm>
          <a:prstGeom prst="rightArrow">
            <a:avLst/>
          </a:prstGeom>
          <a:solidFill>
            <a:srgbClr val="00CEA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6949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3F7FF"/>
                </a:solidFill>
              </a:defRPr>
            </a:pPr>
            <a:r>
              <a:t>异常：捕获后触发诊断 plugin_throws_exception；成功且启用 IRCheck 时校验变换合法性。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